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</c:v>
                </c:pt>
              </c:strCache>
            </c:strRef>
          </c:tx>
          <c:spPr>
            <a:solidFill>
              <a:srgbClr val="5B6B8C"/>
            </a:solidFill>
            <a:ln w="31750" cap="flat">
              <a:solidFill>
                <a:srgbClr val="5B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B8C"/>
              </a:solidFill>
              <a:ln w="9525" cap="flat">
                <a:solidFill>
                  <a:srgbClr val="5B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171</c:v>
                  </c:pt>
                  <c:pt idx="1">
                    <c:v>342</c:v>
                  </c:pt>
                  <c:pt idx="2">
                    <c:v>513</c:v>
                  </c:pt>
                  <c:pt idx="3">
                    <c:v>684</c:v>
                  </c:pt>
                  <c:pt idx="4">
                    <c:v>856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2882.3</c:v>
                </c:pt>
                <c:pt idx="1">
                  <c:v>2626.3</c:v>
                </c:pt>
                <c:pt idx="2">
                  <c:v>2691.4</c:v>
                </c:pt>
                <c:pt idx="3">
                  <c:v>2903</c:v>
                </c:pt>
                <c:pt idx="4">
                  <c:v>2839.3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Validación</c:v>
                </c:pt>
              </c:strCache>
            </c:strRef>
          </c:tx>
          <c:spPr>
            <a:solidFill>
              <a:srgbClr val="E8604C"/>
            </a:solidFill>
            <a:ln w="31750" cap="flat">
              <a:solidFill>
                <a:srgbClr val="E860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04C"/>
              </a:solidFill>
              <a:ln w="9525" cap="flat">
                <a:solidFill>
                  <a:srgbClr val="E860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171</c:v>
                  </c:pt>
                  <c:pt idx="1">
                    <c:v>342</c:v>
                  </c:pt>
                  <c:pt idx="2">
                    <c:v>513</c:v>
                  </c:pt>
                  <c:pt idx="3">
                    <c:v>684</c:v>
                  </c:pt>
                  <c:pt idx="4">
                    <c:v>856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3490.2</c:v>
                </c:pt>
                <c:pt idx="1">
                  <c:v>3105.1</c:v>
                </c:pt>
                <c:pt idx="2">
                  <c:v>2966</c:v>
                </c:pt>
                <c:pt idx="3">
                  <c:v>3028.7</c:v>
                </c:pt>
                <c:pt idx="4">
                  <c:v>2968.4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Observaciones de entrenamiento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MAE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solidFill>
              <a:srgbClr val="E8604C"/>
            </a:solidFill>
            <a:ln w="25400" cap="flat">
              <a:solidFill>
                <a:srgbClr val="E860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604C"/>
              </a:solidFill>
              <a:ln w="9525" cap="flat">
                <a:solidFill>
                  <a:srgbClr val="E860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0.005</c:v>
                  </c:pt>
                  <c:pt idx="2">
                    <c:v>0.051</c:v>
                  </c:pt>
                  <c:pt idx="3">
                    <c:v>0.089</c:v>
                  </c:pt>
                  <c:pt idx="4">
                    <c:v>0.136</c:v>
                  </c:pt>
                  <c:pt idx="5">
                    <c:v>0.238</c:v>
                  </c:pt>
                  <c:pt idx="6">
                    <c:v>0.252</c:v>
                  </c:pt>
                  <c:pt idx="7">
                    <c:v>0.271</c:v>
                  </c:pt>
                  <c:pt idx="8">
                    <c:v>0.308</c:v>
                  </c:pt>
                  <c:pt idx="9">
                    <c:v>0.369</c:v>
                  </c:pt>
                  <c:pt idx="10">
                    <c:v>0.416</c:v>
                  </c:pt>
                  <c:pt idx="11">
                    <c:v>0.617</c:v>
                  </c:pt>
                  <c:pt idx="12">
                    <c:v>0.645</c:v>
                  </c:pt>
                  <c:pt idx="13">
                    <c:v>0.678</c:v>
                  </c:pt>
                  <c:pt idx="14">
                    <c:v>0.696</c:v>
                  </c:pt>
                  <c:pt idx="15">
                    <c:v>0.757</c:v>
                  </c:pt>
                  <c:pt idx="16">
                    <c:v>0.799</c:v>
                  </c:pt>
                  <c:pt idx="17">
                    <c:v>0.907</c:v>
                  </c:pt>
                  <c:pt idx="18">
                    <c:v>0.921</c:v>
                  </c:pt>
                  <c:pt idx="19">
                    <c:v>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0.056</c:v>
                </c:pt>
                <c:pt idx="2">
                  <c:v>0.093</c:v>
                </c:pt>
                <c:pt idx="3">
                  <c:v>0.167</c:v>
                </c:pt>
                <c:pt idx="4">
                  <c:v>0.204</c:v>
                </c:pt>
                <c:pt idx="5">
                  <c:v>0.259</c:v>
                </c:pt>
                <c:pt idx="6">
                  <c:v>0.333</c:v>
                </c:pt>
                <c:pt idx="7">
                  <c:v>0.37</c:v>
                </c:pt>
                <c:pt idx="8">
                  <c:v>0.407</c:v>
                </c:pt>
                <c:pt idx="9">
                  <c:v>0.463</c:v>
                </c:pt>
                <c:pt idx="10">
                  <c:v>0.5</c:v>
                </c:pt>
                <c:pt idx="11">
                  <c:v>0.537</c:v>
                </c:pt>
                <c:pt idx="12">
                  <c:v>0.593</c:v>
                </c:pt>
                <c:pt idx="13">
                  <c:v>0.63</c:v>
                </c:pt>
                <c:pt idx="14">
                  <c:v>0.667</c:v>
                </c:pt>
                <c:pt idx="15">
                  <c:v>0.741</c:v>
                </c:pt>
                <c:pt idx="16">
                  <c:v>0.87</c:v>
                </c:pt>
                <c:pt idx="17">
                  <c:v>0.907</c:v>
                </c:pt>
                <c:pt idx="18">
                  <c:v>0.963</c:v>
                </c:pt>
                <c:pt idx="19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Azar</c:v>
                </c:pt>
              </c:strCache>
            </c:strRef>
          </c:tx>
          <c:spPr>
            <a:solidFill>
              <a:srgbClr val="C7CDE3"/>
            </a:solidFill>
            <a:ln w="25400" cap="flat">
              <a:solidFill>
                <a:srgbClr val="C7CDE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CDE3"/>
              </a:solidFill>
              <a:ln w="9525" cap="flat">
                <a:solidFill>
                  <a:srgbClr val="C7CDE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0.005</c:v>
                  </c:pt>
                  <c:pt idx="2">
                    <c:v>0.051</c:v>
                  </c:pt>
                  <c:pt idx="3">
                    <c:v>0.089</c:v>
                  </c:pt>
                  <c:pt idx="4">
                    <c:v>0.136</c:v>
                  </c:pt>
                  <c:pt idx="5">
                    <c:v>0.238</c:v>
                  </c:pt>
                  <c:pt idx="6">
                    <c:v>0.252</c:v>
                  </c:pt>
                  <c:pt idx="7">
                    <c:v>0.271</c:v>
                  </c:pt>
                  <c:pt idx="8">
                    <c:v>0.308</c:v>
                  </c:pt>
                  <c:pt idx="9">
                    <c:v>0.369</c:v>
                  </c:pt>
                  <c:pt idx="10">
                    <c:v>0.416</c:v>
                  </c:pt>
                  <c:pt idx="11">
                    <c:v>0.617</c:v>
                  </c:pt>
                  <c:pt idx="12">
                    <c:v>0.645</c:v>
                  </c:pt>
                  <c:pt idx="13">
                    <c:v>0.678</c:v>
                  </c:pt>
                  <c:pt idx="14">
                    <c:v>0.696</c:v>
                  </c:pt>
                  <c:pt idx="15">
                    <c:v>0.757</c:v>
                  </c:pt>
                  <c:pt idx="16">
                    <c:v>0.799</c:v>
                  </c:pt>
                  <c:pt idx="17">
                    <c:v>0.907</c:v>
                  </c:pt>
                  <c:pt idx="18">
                    <c:v>0.921</c:v>
                  </c:pt>
                  <c:pt idx="19">
                    <c:v>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0.005</c:v>
                </c:pt>
                <c:pt idx="2">
                  <c:v>0.051</c:v>
                </c:pt>
                <c:pt idx="3">
                  <c:v>0.089</c:v>
                </c:pt>
                <c:pt idx="4">
                  <c:v>0.136</c:v>
                </c:pt>
                <c:pt idx="5">
                  <c:v>0.238</c:v>
                </c:pt>
                <c:pt idx="6">
                  <c:v>0.252</c:v>
                </c:pt>
                <c:pt idx="7">
                  <c:v>0.271</c:v>
                </c:pt>
                <c:pt idx="8">
                  <c:v>0.308</c:v>
                </c:pt>
                <c:pt idx="9">
                  <c:v>0.369</c:v>
                </c:pt>
                <c:pt idx="10">
                  <c:v>0.416</c:v>
                </c:pt>
                <c:pt idx="11">
                  <c:v>0.617</c:v>
                </c:pt>
                <c:pt idx="12">
                  <c:v>0.645</c:v>
                </c:pt>
                <c:pt idx="13">
                  <c:v>0.678</c:v>
                </c:pt>
                <c:pt idx="14">
                  <c:v>0.696</c:v>
                </c:pt>
                <c:pt idx="15">
                  <c:v>0.757</c:v>
                </c:pt>
                <c:pt idx="16">
                  <c:v>0.799</c:v>
                </c:pt>
                <c:pt idx="17">
                  <c:v>0.907</c:v>
                </c:pt>
                <c:pt idx="18">
                  <c:v>0.921</c:v>
                </c:pt>
                <c:pt idx="19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FPR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TPR (recall)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Coeficiente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smoker region_northwest</c:v>
                  </c:pt>
                  <c:pt idx="1">
                    <c:v>BMI_Smoker^2</c:v>
                  </c:pt>
                  <c:pt idx="2">
                    <c:v>age</c:v>
                  </c:pt>
                  <c:pt idx="3">
                    <c:v>BMI_Smoker</c:v>
                  </c:pt>
                  <c:pt idx="4">
                    <c:v>BMI_Smoker smoker</c:v>
                  </c:pt>
                  <c:pt idx="5">
                    <c:v>BMI_Smoker region_northwest</c:v>
                  </c:pt>
                  <c:pt idx="6">
                    <c:v>smoker region_northeast</c:v>
                  </c:pt>
                  <c:pt idx="7">
                    <c:v>bmi smoker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-6636.9</c:v>
                </c:pt>
                <c:pt idx="1">
                  <c:v>2841.3</c:v>
                </c:pt>
                <c:pt idx="2">
                  <c:v>2977.5</c:v>
                </c:pt>
                <c:pt idx="3">
                  <c:v>2998.4</c:v>
                </c:pt>
                <c:pt idx="4">
                  <c:v>3073.6</c:v>
                </c:pt>
                <c:pt idx="5">
                  <c:v>3362</c:v>
                </c:pt>
                <c:pt idx="6">
                  <c:v>3481.6</c:v>
                </c:pt>
                <c:pt idx="7">
                  <c:v>7047.2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7 · ACTUARÍA DE DATOS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Cost Prediction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gastos médicos y recuperación de la condición de fumador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aprendizaje supervisado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Rivera  ·  rodrigo.rivera@ucb.edu.bo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aseguradora necesita anticipar riesgo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gastos médicos varían mucho entre asegurados; fijar primas sin un modelo cuantitativo deja valor y riesgo sobre la mesa.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1417320" y="27432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hábito de fumar es uno de los factores de riesgo más determinantes del costo, pero a veces falta en el registro del asegurado.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1417320" y="37033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apoyo cuantitativo — no una decisión automática — para dos preguntas del negocio a la vez.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749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Cost Personal Datasets (Kaggle) — 1,338 asegurados, 7 variables: age, sex, bmi, children, smoker, region, charges.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tareas de aprendizaje supervisado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9AA6D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charges (gasto médico anual) a partir de variables demográficas y de salud, para apoyar la estimación de primas.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9AA6D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40280"/>
            <a:ext cx="640080" cy="64008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380" dirty="0"/>
          </a:p>
        </p:txBody>
      </p:sp>
      <p:sp>
        <p:nvSpPr>
          <p:cNvPr id="12" name="Text 10"/>
          <p:cNvSpPr/>
          <p:nvPr/>
        </p:nvSpPr>
        <p:spPr>
          <a:xfrm>
            <a:off x="649224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smoker cuando falta en el registro, usando solo variables disponibles antes de conocer el gasto (sin fuga de información).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Exploración y calidad del dato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993392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470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9776" y="1783080"/>
            <a:ext cx="1993392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79776" y="18470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79776" y="2450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19472" y="1783080"/>
            <a:ext cx="1993392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8470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19472" y="2450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59168" y="1783080"/>
            <a:ext cx="1993392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059168" y="18470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059168" y="2450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(IQR)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98864" y="1783080"/>
            <a:ext cx="1993392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98864" y="18470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98864" y="2450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sobre valores extremos: se conservan — representan gastos médicos reales y de alto interés para el negocio (los casos de mayor riesgo que la aseguradora necesita anticipar).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sex: female, male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smoker: no, yes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northeast, northwest, southeast, southwest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093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características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452628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→ binaria (0/1), smoker → binaria (0/1)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BMI_Smoker = bmi × smoker  (interacción)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Creadas dentro del pipeline — sin fuga de información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reproducible, sin fuga de información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542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9992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prueba separado antes de ajustar cualquier transformación o modelo.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237744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2B3572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2542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88920" y="29992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88920" y="3520440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+ escalado (numéricas) e imputación + one-hot (categóricas), dentro del pipeline.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542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29992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interpretable vs. alternativa con mayor capacidad, comparados con las mismas métricas.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237744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2B3572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2542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95160" y="29992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95160" y="3520440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hiperparámetros solo con datos de entrenamiento (K=5).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0" y="237744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2542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29992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98280" y="3520440"/>
            <a:ext cx="1719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diagnóstico visual únicamente sobre el conjunto de prueba, una vez.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preprocesamiento vive dentro del Pipeline de scikit-learn junto con el modelo: garantiza que entrenamiento, validación cruzada y producción apliquen exactamente las mismas transformaciones.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modelos comparados por tarea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— charges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1005840"/>
          </a:xfrm>
          <a:prstGeom prst="roundRect">
            <a:avLst>
              <a:gd name="adj" fmla="val 6364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sobre variables preprocesadas.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120640" cy="1005840"/>
          </a:xfrm>
          <a:prstGeom prst="roundRect">
            <a:avLst>
              <a:gd name="adj" fmla="val 6364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66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PolynomialFeatures(grado 2) + Ridge — captura interacciones y no linealidad; alpha elegido por CV (mejor: 1.0).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— smoker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77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oculta el 20% de las etiquetas smoker (267 casos), con semilla fija, para simular datos faltantes.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474720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(class_weight='balanced') sobre age, sex, bmi, children, region. charges NO se usa (evita fuga).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pipelines comparten la misma disciplina: separación previa de datos de prueba, validación cruzada solo sobre entrenamiento, y ningún ajuste basado en el conjunto de prueba.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— conjunto de prueba (268 obs.)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2,756.90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4,573.81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Polinomios + 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2,689.80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4,591.33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2461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polinomial reduce el MAE, pero la ganancia frente al baseline lineal es modesta (RMSE prácticamente igual).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(MAE)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309360" y="210312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4892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validación convergen sin brecha amplia: más datos no aportarían mejoras sustanciales adicionales.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— imputación de smoker (validación: 268 casos)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ROC  (AUC = 0.5267)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0312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— umbral 0.50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4884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Predicho: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Predicho: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48920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0.53: apenas por encima del azar. Las variables demográficas disponibles predicen smoker débilmente — se retoma como limitación.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con mayor magnitud — Polinomios + Ridge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75320" y="182880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× smoker domina el modelo — el IMC pesa mucho más en fumadores que en no fumadores. age y las combinaciones con region también son relevantes. Estos son coeficientes de un modelo con interacciones y términos cuadráticos: son señales, no efectos causales aislados.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 de clasificación: un trade-off, no una respuesta única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234440"/>
                <a:gridCol w="10515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0.50 resaltado: valor demostrativo usado en el pipeline, no una recomendación operativa.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98080" y="1783080"/>
            <a:ext cx="411480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 (FP)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80960" y="22219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'fumador' a quien no lo es → sobreestima riesgo y prima.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3200400"/>
            <a:ext cx="411480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 (FN)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80960" y="363931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'no fumador' a quien sí lo es → subestima riesgo y costo esperado.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0" y="4617720"/>
            <a:ext cx="411480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4709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680960" y="50566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monetario de cada error debe definirlo el área actuarial; el caso no lo proporciona.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sabemos todavía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128016" cy="128016"/>
          </a:xfrm>
          <a:prstGeom prst="rect">
            <a:avLst>
              <a:gd name="adj" fmla="val 14286"/>
            </a:avLst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1907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predictivo bajo para smoker (AUC ≈ 0.53): sus imputaciones deben marcarse y revisarse, nunca tratarse como dato observado.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128016" cy="128016"/>
          </a:xfrm>
          <a:prstGeom prst="rect">
            <a:avLst>
              <a:gd name="adj" fmla="val 14286"/>
            </a:avLst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603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pequeño (1,338 filas) y sin dimensión temporal: no valida generalización a otra población, región o época.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28016" cy="128016"/>
          </a:xfrm>
          <a:prstGeom prst="rect">
            <a:avLst>
              <a:gd name="adj" fmla="val 14286"/>
            </a:avLst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40156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Asociaciones, no causalidad: BMI_Smoker y age son señales estadísticas de esta muestra, no relaciones causales probadas.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07408"/>
            <a:ext cx="128016" cy="128016"/>
          </a:xfrm>
          <a:prstGeom prst="rect">
            <a:avLst>
              <a:gd name="adj" fmla="val 14286"/>
            </a:avLst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4281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RMSE–MAE: el modelo comete errores más grandes justo en los asegurados de mayor costo — los más relevantes para el negocio.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248656"/>
            <a:ext cx="128016" cy="128016"/>
          </a:xfrm>
          <a:prstGeom prst="rect">
            <a:avLst>
              <a:gd name="adj" fmla="val 14286"/>
            </a:avLst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08406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marginal del modelo polinomial: con otra muestra, el orden entre ambos modelos de regresión podría no sostenerse.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 útil, con límites claros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2,689.80  ·  R² = 0.8642 (Polinomios + Ridge)  ·  AUC = 0.53 (imputación smoker)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estimación de charges como apoyo actuarial, no como decisión automática de cobertura o precio.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99008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 el área actuarial el costo monetario de FP y FN antes de fijar un umbral de imputación operativo.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85876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cada smoker imputado junto con su probabilidad, sujeto a revisión — nunca como dato observado.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2744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MAE y RMSE por región y rango etario antes de desplegar el modelo en producción.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7 — Medical Cost Prediction  ·  Rodrigo Rivera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2026-09-11T20:22:41Z</dcterms:created>
  <dcterms:modified xsi:type="dcterms:W3CDTF">2026-09-11T20:22:41Z</dcterms:modified>
</cp:coreProperties>
</file>